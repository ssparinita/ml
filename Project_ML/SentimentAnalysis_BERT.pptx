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A09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160520" cy="457200"/>
          </a:xfrm>
          <a:prstGeom prst="roundRect">
            <a:avLst>
              <a:gd name="adj" fmla="val 50000"/>
            </a:avLst>
          </a:prstGeom>
          <a:solidFill>
            <a:srgbClr val="241F5E">
              <a:alpha val="75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· MACHINE LEARNING PROJECT · A.Y. 2026–27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69494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Review
</a:t>
            </a:r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9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 </a:t>
            </a:r>
            <a:pPr algn="l" indent="0" marL="0">
              <a:lnSpc>
                <a:spcPct val="105000"/>
              </a:lnSpc>
              <a:buNone/>
            </a:pP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NLP and BERT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21792" y="379476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customer opinions on Amazon product reviews as Positive or Negative using a fine-tuned Bidirectional Encoder Representations from Transformers (BERT) model.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" y="480060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5001768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5001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44752" y="4892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Dharmika 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44752" y="51937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2520030012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67912" y="480060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96512" y="5001768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96512" y="5001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90872" y="4892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Parinitha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0872" y="51937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2520030562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5806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 </a:t>
            </a:r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Jyothsna Datti</a:t>
            </a:r>
            <a:pPr indent="0" marL="0">
              <a:buNone/>
            </a:pPr>
            <a:r>
              <a:rPr lang="en-US" sz="12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Assistant Professor, CSE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614476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 ·  Department of CSE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78240" y="2377440"/>
            <a:ext cx="1737360" cy="1737360"/>
          </a:xfrm>
          <a:prstGeom prst="ellipse">
            <a:avLst/>
          </a:prstGeom>
          <a:ln w="12700">
            <a:solidFill>
              <a:srgbClr val="8C6BFF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8503920" y="2103120"/>
            <a:ext cx="2286000" cy="2286000"/>
          </a:xfrm>
          <a:prstGeom prst="ellipse">
            <a:avLst/>
          </a:prstGeom>
          <a:ln w="12700">
            <a:solidFill>
              <a:srgbClr val="8C6BFF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9029700" y="2628900"/>
            <a:ext cx="1234440" cy="123444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29700" y="262890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64624" y="2020824"/>
            <a:ext cx="164592" cy="164592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52176" y="2596896"/>
            <a:ext cx="164592" cy="164592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52176" y="3730752"/>
            <a:ext cx="164592" cy="164592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25" name="Shape 23"/>
          <p:cNvSpPr/>
          <p:nvPr/>
        </p:nvSpPr>
        <p:spPr>
          <a:xfrm>
            <a:off x="9564624" y="4306824"/>
            <a:ext cx="164592" cy="164592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26" name="Shape 24"/>
          <p:cNvSpPr/>
          <p:nvPr/>
        </p:nvSpPr>
        <p:spPr>
          <a:xfrm>
            <a:off x="8577072" y="3730752"/>
            <a:ext cx="164592" cy="164592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27" name="Shape 25"/>
          <p:cNvSpPr/>
          <p:nvPr/>
        </p:nvSpPr>
        <p:spPr>
          <a:xfrm>
            <a:off x="8577072" y="2596896"/>
            <a:ext cx="164592" cy="164592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28" name="Shape 26"/>
          <p:cNvSpPr/>
          <p:nvPr/>
        </p:nvSpPr>
        <p:spPr>
          <a:xfrm>
            <a:off x="7818120" y="12344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18120" y="12344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18120" y="17373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18120" y="17373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“battery”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18120" y="22402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818120" y="22402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“life!”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0" y="489204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B3B2E">
              <a:alpha val="95000"/>
            </a:srgbClr>
          </a:solidFill>
          <a:ln w="12700">
            <a:solidFill>
              <a:srgbClr val="3ED59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144000" y="4892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Positive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Millions of Reviews</a:t>
            </a:r>
            <a:endParaRPr lang="en-US" sz="3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Clear Signal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21488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 generate an overwhelming volume of customer reviews daily. Reading each one manually is slow and inconsistent — this project builds an automated pipeline that reads reviews the way a human would, using BERT’s deep contextual understanding of language, and labels each one Positive or Negative in seconds.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4160520"/>
            <a:ext cx="5989320" cy="2011680"/>
          </a:xfrm>
          <a:prstGeom prst="roundRect">
            <a:avLst>
              <a:gd name="adj" fmla="val 6364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370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BERT, NOT TRADITIONAL NLP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models score reviews by counting individual words. BERT instead reads the full sentence in both directions at once, capturing negation, sarcasm and context — e.g. distinguishing “not good” from “good” — for far more reliable sentiment predictions.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03720" y="777240"/>
            <a:ext cx="4709160" cy="1298448"/>
          </a:xfrm>
          <a:prstGeom prst="roundRect">
            <a:avLst>
              <a:gd name="adj" fmla="val 9859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05472" y="1124712"/>
            <a:ext cx="603504" cy="60350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472" y="112471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55280" y="94183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55280" y="12801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Positive / Negative classification of product reviews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258568"/>
            <a:ext cx="4709160" cy="1298448"/>
          </a:xfrm>
          <a:prstGeom prst="roundRect">
            <a:avLst>
              <a:gd name="adj" fmla="val 9859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05472" y="2606040"/>
            <a:ext cx="603504" cy="60350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472" y="26060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0" y="24231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955280" y="276148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Reviews — real customer text + ratings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739896"/>
            <a:ext cx="4709160" cy="1298448"/>
          </a:xfrm>
          <a:prstGeom prst="roundRect">
            <a:avLst>
              <a:gd name="adj" fmla="val 9859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05472" y="4087368"/>
            <a:ext cx="603504" cy="60350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40873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55280" y="390448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55280" y="424281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 (Bidirectional Transformer Encoder)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5221224"/>
            <a:ext cx="4709160" cy="1298448"/>
          </a:xfrm>
          <a:prstGeom prst="roundRect">
            <a:avLst>
              <a:gd name="adj" fmla="val 9859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05472" y="5568696"/>
            <a:ext cx="603504" cy="60350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556869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955280" y="538581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955280" y="5724144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Confusion Matrix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Sentiment Analysis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28216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282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e-commerce explosion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98448" y="198424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businesses now depend on online reviews to make and shape purchasing decisions every single day.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07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8448" y="27706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to read manually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98448" y="30632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reviews per product make manual analysis slow, inconsistent, and impossible to scale.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86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8448" y="38496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nuanced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98448" y="414223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Opinions hide in context, sarcasm, and phrasing — simple keyword counting frequently gets it wrong.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965192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965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9286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solution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98448" y="522122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BERT-based NLP system reads reviews contextually and reports sentiment instantly and reliably.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78040" y="1691640"/>
            <a:ext cx="4434840" cy="4434840"/>
          </a:xfrm>
          <a:prstGeom prst="roundRect">
            <a:avLst>
              <a:gd name="adj" fmla="val 3299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1901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REVIEW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0" y="2286000"/>
            <a:ext cx="3794760" cy="548640"/>
          </a:xfrm>
          <a:prstGeom prst="roundRect">
            <a:avLst>
              <a:gd name="adj" fmla="val 50000"/>
            </a:avLst>
          </a:prstGeom>
          <a:solidFill>
            <a:srgbClr val="1E1A4A">
              <a:alpha val="95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98080" y="228600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battery is not good at all.”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98080" y="3200400"/>
            <a:ext cx="3794760" cy="1234440"/>
          </a:xfrm>
          <a:prstGeom prst="roundRect">
            <a:avLst>
              <a:gd name="adj" fmla="val 8889"/>
            </a:avLst>
          </a:prstGeom>
          <a:solidFill>
            <a:srgbClr val="3A2440">
              <a:alpha val="85000"/>
            </a:srgbClr>
          </a:solidFill>
          <a:ln w="12700">
            <a:solidFill>
              <a:srgbClr val="FF5C7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26680" y="3310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(word-count) NLP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26680" y="36027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“good” as a positive keyword and misses the negation → risks a wrong label.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26680" y="4114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Negative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0" y="4617720"/>
            <a:ext cx="3794760" cy="1280160"/>
          </a:xfrm>
          <a:prstGeom prst="roundRect">
            <a:avLst>
              <a:gd name="adj" fmla="val 8571"/>
            </a:avLst>
          </a:prstGeom>
          <a:solidFill>
            <a:srgbClr val="1B3B2E">
              <a:alpha val="90000"/>
            </a:srgbClr>
          </a:solidFill>
          <a:ln w="12700">
            <a:solidFill>
              <a:srgbClr val="3ED59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26680" y="47274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(contextual) NLP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26680" y="50200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C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full sentence bidirectionally, correctly weighs “not” against “good”.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26680" y="5532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Negative (correct)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Sentiment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counting words to understanding meaning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2331720" cy="502920"/>
          </a:xfrm>
          <a:prstGeom prst="rect">
            <a:avLst/>
          </a:prstGeom>
          <a:solidFill>
            <a:srgbClr val="15123A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6080" y="1920240"/>
            <a:ext cx="3429000" cy="502920"/>
          </a:xfrm>
          <a:prstGeom prst="rect">
            <a:avLst/>
          </a:prstGeom>
          <a:solidFill>
            <a:srgbClr val="15123A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9202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2788920" cy="502920"/>
          </a:xfrm>
          <a:prstGeom prst="rect">
            <a:avLst/>
          </a:prstGeom>
          <a:solidFill>
            <a:srgbClr val="15123A">
              <a:alpha val="9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0" y="1920240"/>
            <a:ext cx="2606040" cy="502920"/>
          </a:xfrm>
          <a:prstGeom prst="rect">
            <a:avLst/>
          </a:prstGeom>
          <a:solidFill>
            <a:srgbClr val="15123A">
              <a:alpha val="9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281160" y="1920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423160"/>
            <a:ext cx="233172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23160"/>
            <a:ext cx="2057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Lexicon-Based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2423160"/>
            <a:ext cx="342900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423160"/>
            <a:ext cx="3154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word dictionaries &amp; rules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355080" y="2423160"/>
            <a:ext cx="278892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423160"/>
            <a:ext cx="2514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no training data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144000" y="2423160"/>
            <a:ext cx="260604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2423160"/>
            <a:ext cx="2331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context, poor with sarcasm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94360" y="3209544"/>
            <a:ext cx="2331720" cy="786384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209544"/>
            <a:ext cx="2057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3209544"/>
            <a:ext cx="3429000" cy="786384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3209544"/>
            <a:ext cx="3154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SVM on Bag-of-Words / TF-IDF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355080" y="3209544"/>
            <a:ext cx="2788920" cy="786384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209544"/>
            <a:ext cx="2514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Efficient, well understood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144000" y="3209544"/>
            <a:ext cx="2606040" cy="786384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3209544"/>
            <a:ext cx="2331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words independently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94360" y="3995928"/>
            <a:ext cx="233172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995928"/>
            <a:ext cx="2057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26080" y="3995928"/>
            <a:ext cx="342900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63240" y="3995928"/>
            <a:ext cx="3154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CNN with word embeddings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355080" y="3995928"/>
            <a:ext cx="278892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995928"/>
            <a:ext cx="2514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word order &amp; sequence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9144000" y="3995928"/>
            <a:ext cx="260604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81160" y="3995928"/>
            <a:ext cx="2331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long-range context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94360" y="4782312"/>
            <a:ext cx="2331720" cy="786384"/>
          </a:xfrm>
          <a:prstGeom prst="rect">
            <a:avLst/>
          </a:prstGeom>
          <a:solidFill>
            <a:srgbClr val="241A55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782312"/>
            <a:ext cx="2057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(BERT)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926080" y="4782312"/>
            <a:ext cx="3429000" cy="786384"/>
          </a:xfrm>
          <a:prstGeom prst="rect">
            <a:avLst/>
          </a:prstGeom>
          <a:solidFill>
            <a:srgbClr val="241A55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63240" y="4782312"/>
            <a:ext cx="3154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self-attention, fine-tuned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6355080" y="4782312"/>
            <a:ext cx="2788920" cy="786384"/>
          </a:xfrm>
          <a:prstGeom prst="rect">
            <a:avLst/>
          </a:prstGeom>
          <a:solidFill>
            <a:srgbClr val="241A55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4782312"/>
            <a:ext cx="2514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contextual understanding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9144000" y="4782312"/>
            <a:ext cx="2606040" cy="786384"/>
          </a:xfrm>
          <a:prstGeom prst="rect">
            <a:avLst/>
          </a:prstGeom>
          <a:solidFill>
            <a:srgbClr val="241A55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81160" y="4782312"/>
            <a:ext cx="2331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compute / GPU need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594360" y="4782312"/>
            <a:ext cx="11155680" cy="786384"/>
          </a:xfrm>
          <a:prstGeom prst="roundRect">
            <a:avLst>
              <a:gd name="adj" fmla="val 6977"/>
            </a:avLst>
          </a:prstGeom>
          <a:ln w="19050">
            <a:solidFill>
              <a:srgbClr val="8C6B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This project builds on the transformer approach, fine-tuning BERT specifically for product review sentiment.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5212080" cy="2377440"/>
          </a:xfrm>
          <a:prstGeom prst="roundRect">
            <a:avLst>
              <a:gd name="adj" fmla="val 6154"/>
            </a:avLst>
          </a:prstGeom>
          <a:solidFill>
            <a:srgbClr val="1C18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526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reading thousands of daily product reviews is time-consuming and error-prone. There is a need for an automated, context-aware system that can accurately classify customer sentiment as Positive or Negative — at scale, and without losing the nuance of natural language.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5212080" cy="2011680"/>
          </a:xfrm>
          <a:prstGeom prst="roundRect">
            <a:avLst>
              <a:gd name="adj" fmla="val 7273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370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6817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Binary sentiment classes: Positive &amp; Negative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09320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Trained and tested on Amazon product reviews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50468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Fine-tuned pre-trained BERT, not built from scratch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28816" y="1975104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75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23760" y="1920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Review Text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221284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normalize and prepare raw review text for the BERT model.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761488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28816" y="2907792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2907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285292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314553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a pre-trained BERT model to the sentiment classification task.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694176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28816" y="3840480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3840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37856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Sentiment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407822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Positive / Negative sentiment on unseen reviews.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626864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28816" y="4773168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4773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47183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Rigorously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50109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Accuracy, Precision, Recall, F1-Score &amp; confusion matrix.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559552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28816" y="5705856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57058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23760" y="56509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Decisions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59436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insights that help businesses act on customer feedback.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METHODOLOGY &amp; REQUIREMENTS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Reviews to a Trained Model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REVIEWS — SAMPLE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3429000" cy="457200"/>
          </a:xfrm>
          <a:prstGeom prst="rect">
            <a:avLst/>
          </a:prstGeom>
          <a:solidFill>
            <a:srgbClr val="15123A">
              <a:alpha val="9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874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Text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23360" y="1874520"/>
            <a:ext cx="868680" cy="457200"/>
          </a:xfrm>
          <a:prstGeom prst="rect">
            <a:avLst/>
          </a:prstGeom>
          <a:solidFill>
            <a:srgbClr val="15123A">
              <a:alpha val="9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33088" y="18745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874520"/>
            <a:ext cx="1371600" cy="457200"/>
          </a:xfrm>
          <a:prstGeom prst="rect">
            <a:avLst/>
          </a:prstGeom>
          <a:solidFill>
            <a:srgbClr val="15123A">
              <a:alpha val="9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331720"/>
            <a:ext cx="3429000" cy="457200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“Amazing sound quality, worth it!”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2331720"/>
            <a:ext cx="868680" cy="457200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23317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331720"/>
            <a:ext cx="1371600" cy="457200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331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2788920"/>
            <a:ext cx="3429000" cy="457200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“Stopped working within a week.”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2788920"/>
            <a:ext cx="868680" cy="457200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3088" y="27889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788920"/>
            <a:ext cx="1371600" cy="457200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788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246120"/>
            <a:ext cx="3429000" cy="457200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246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“Comfortable, but a bit pricey.”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0" y="3246120"/>
            <a:ext cx="868680" cy="457200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33088" y="32461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246120"/>
            <a:ext cx="1371600" cy="457200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3703320"/>
            <a:ext cx="3429000" cy="457200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37033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“Delivery was late and packaging poor.”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23360" y="3703320"/>
            <a:ext cx="868680" cy="457200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33088" y="37033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703320"/>
            <a:ext cx="1371600" cy="457200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3703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" y="4498848"/>
            <a:ext cx="1060704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498848"/>
            <a:ext cx="1060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783080" y="4498848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449884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TensorFlow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" y="4992624"/>
            <a:ext cx="2187245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992624"/>
            <a:ext cx="21872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909621" y="4992624"/>
            <a:ext cx="1382573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09621" y="4992624"/>
            <a:ext cx="13825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420210" y="4992624"/>
            <a:ext cx="1221638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20210" y="4992624"/>
            <a:ext cx="12216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4360" y="5486400"/>
            <a:ext cx="2026310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5486400"/>
            <a:ext cx="20263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(CUDA) recommended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8686" y="54864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8686" y="5486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Colab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339742" y="5486400"/>
            <a:ext cx="1141171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39742" y="5486400"/>
            <a:ext cx="11411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8–16 GB RAM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537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903720" y="2194560"/>
            <a:ext cx="0" cy="658368"/>
          </a:xfrm>
          <a:prstGeom prst="line">
            <a:avLst/>
          </a:prstGeom>
          <a:noFill/>
          <a:ln w="19050">
            <a:solidFill>
              <a:srgbClr val="8C6BFF"/>
            </a:solidFill>
            <a:prstDash val="sysDot"/>
          </a:ln>
        </p:spPr>
      </p:sp>
      <p:sp>
        <p:nvSpPr>
          <p:cNvPr id="55" name="Shape 53"/>
          <p:cNvSpPr/>
          <p:nvPr/>
        </p:nvSpPr>
        <p:spPr>
          <a:xfrm>
            <a:off x="6711696" y="1856232"/>
            <a:ext cx="384048" cy="384048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11696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315200" y="18836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Amazon Product Reviews dataset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903720" y="2852928"/>
            <a:ext cx="0" cy="658368"/>
          </a:xfrm>
          <a:prstGeom prst="line">
            <a:avLst/>
          </a:prstGeom>
          <a:noFill/>
          <a:ln w="19050">
            <a:solidFill>
              <a:srgbClr val="8C6BFF"/>
            </a:solidFill>
            <a:prstDash val="sysDot"/>
          </a:ln>
        </p:spPr>
      </p:sp>
      <p:sp>
        <p:nvSpPr>
          <p:cNvPr id="59" name="Shape 57"/>
          <p:cNvSpPr/>
          <p:nvPr/>
        </p:nvSpPr>
        <p:spPr>
          <a:xfrm>
            <a:off x="6711696" y="2514600"/>
            <a:ext cx="384048" cy="384048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11696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315200" y="25420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preprocess text (noise, missing values)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903720" y="3511296"/>
            <a:ext cx="0" cy="658368"/>
          </a:xfrm>
          <a:prstGeom prst="line">
            <a:avLst/>
          </a:prstGeom>
          <a:noFill/>
          <a:ln w="19050">
            <a:solidFill>
              <a:srgbClr val="8C6BFF"/>
            </a:solidFill>
            <a:prstDash val="sysDot"/>
          </a:ln>
        </p:spPr>
      </p:sp>
      <p:sp>
        <p:nvSpPr>
          <p:cNvPr id="63" name="Shape 61"/>
          <p:cNvSpPr/>
          <p:nvPr/>
        </p:nvSpPr>
        <p:spPr>
          <a:xfrm>
            <a:off x="6711696" y="3172968"/>
            <a:ext cx="384048" cy="384048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11696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315200" y="3200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using the BERT tokenizer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903720" y="4169664"/>
            <a:ext cx="0" cy="658368"/>
          </a:xfrm>
          <a:prstGeom prst="line">
            <a:avLst/>
          </a:prstGeom>
          <a:noFill/>
          <a:ln w="19050">
            <a:solidFill>
              <a:srgbClr val="8C6BFF"/>
            </a:solidFill>
            <a:prstDash val="sysDot"/>
          </a:ln>
        </p:spPr>
      </p:sp>
      <p:sp>
        <p:nvSpPr>
          <p:cNvPr id="67" name="Shape 65"/>
          <p:cNvSpPr/>
          <p:nvPr/>
        </p:nvSpPr>
        <p:spPr>
          <a:xfrm>
            <a:off x="6711696" y="3831336"/>
            <a:ext cx="384048" cy="384048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11696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315200" y="38587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training and testing sets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6903720" y="4828032"/>
            <a:ext cx="0" cy="658368"/>
          </a:xfrm>
          <a:prstGeom prst="line">
            <a:avLst/>
          </a:prstGeom>
          <a:noFill/>
          <a:ln w="19050">
            <a:solidFill>
              <a:srgbClr val="8C6BFF"/>
            </a:solidFill>
            <a:prstDash val="sysDot"/>
          </a:ln>
        </p:spPr>
      </p:sp>
      <p:sp>
        <p:nvSpPr>
          <p:cNvPr id="71" name="Shape 69"/>
          <p:cNvSpPr/>
          <p:nvPr/>
        </p:nvSpPr>
        <p:spPr>
          <a:xfrm>
            <a:off x="6711696" y="4489704"/>
            <a:ext cx="384048" cy="384048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11696" y="4489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315200" y="45171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pre-trained BERT on training data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6711696" y="5148072"/>
            <a:ext cx="384048" cy="384048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11696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7315200" y="51755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unseen test reviews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3383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C19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0996" y="2112264"/>
            <a:ext cx="475488" cy="475488"/>
          </a:xfrm>
          <a:prstGeom prst="ellipse">
            <a:avLst/>
          </a:prstGeom>
          <a:solidFill>
            <a:srgbClr val="4E86FF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" y="2697480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03120" y="2674620"/>
            <a:ext cx="384048" cy="0"/>
          </a:xfrm>
          <a:prstGeom prst="line">
            <a:avLst/>
          </a:prstGeom>
          <a:noFill/>
          <a:ln w="25400">
            <a:solidFill>
              <a:srgbClr val="9FF3E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87168" y="196596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C19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03804" y="2112264"/>
            <a:ext cx="475488" cy="475488"/>
          </a:xfrm>
          <a:prstGeom prst="ellipse">
            <a:avLst/>
          </a:prstGeom>
          <a:solidFill>
            <a:srgbClr val="4E86FF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3804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2697480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(clean, normalize)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95928" y="2674620"/>
            <a:ext cx="384048" cy="0"/>
          </a:xfrm>
          <a:prstGeom prst="line">
            <a:avLst/>
          </a:prstGeom>
          <a:noFill/>
          <a:ln w="25400">
            <a:solidFill>
              <a:srgbClr val="9FF3E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79976" y="196596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C19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6612" y="2112264"/>
            <a:ext cx="475488" cy="475488"/>
          </a:xfrm>
          <a:prstGeom prst="ellipse">
            <a:avLst/>
          </a:prstGeom>
          <a:solidFill>
            <a:srgbClr val="8C6BFF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6612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53128" y="2697480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Tokenizer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(WordPiece)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88736" y="2674620"/>
            <a:ext cx="384048" cy="0"/>
          </a:xfrm>
          <a:prstGeom prst="line">
            <a:avLst/>
          </a:prstGeom>
          <a:noFill/>
          <a:ln w="25400">
            <a:solidFill>
              <a:srgbClr val="9FF3E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72784" y="196596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C19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9420" y="2112264"/>
            <a:ext cx="475488" cy="475488"/>
          </a:xfrm>
          <a:prstGeom prst="ellipse">
            <a:avLst/>
          </a:prstGeom>
          <a:solidFill>
            <a:srgbClr val="8C6BFF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9420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5936" y="2697480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Encoder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(fine-tuned)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81544" y="2674620"/>
            <a:ext cx="384048" cy="0"/>
          </a:xfrm>
          <a:prstGeom prst="line">
            <a:avLst/>
          </a:prstGeom>
          <a:noFill/>
          <a:ln w="25400">
            <a:solidFill>
              <a:srgbClr val="9FF3E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65592" y="196596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C19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2228" y="2112264"/>
            <a:ext cx="475488" cy="475488"/>
          </a:xfrm>
          <a:prstGeom prst="ellipse">
            <a:avLst/>
          </a:prstGeom>
          <a:solidFill>
            <a:srgbClr val="2FE0D6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2228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38744" y="2697480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74352" y="2674620"/>
            <a:ext cx="384048" cy="0"/>
          </a:xfrm>
          <a:prstGeom prst="line">
            <a:avLst/>
          </a:prstGeom>
          <a:noFill/>
          <a:ln w="25400">
            <a:solidFill>
              <a:srgbClr val="9FF3E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0" y="196596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C19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75036" y="2112264"/>
            <a:ext cx="475488" cy="475488"/>
          </a:xfrm>
          <a:prstGeom prst="ellipse">
            <a:avLst/>
          </a:prstGeom>
          <a:solidFill>
            <a:srgbClr val="3ED598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75036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31552" y="2697480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Output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284714" y="3520440"/>
            <a:ext cx="0" cy="0"/>
          </a:xfrm>
          <a:prstGeom prst="line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594360" y="3794760"/>
            <a:ext cx="10972800" cy="1417320"/>
          </a:xfrm>
          <a:prstGeom prst="roundRect">
            <a:avLst>
              <a:gd name="adj" fmla="val 903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3950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4400" y="4480560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46304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63240" y="4480560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6324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61188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212080" y="4480560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76072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360920" y="4480560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90956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509760" y="4480560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0976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005840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80760" y="3383280"/>
            <a:ext cx="0" cy="411480"/>
          </a:xfrm>
          <a:prstGeom prst="line">
            <a:avLst/>
          </a:prstGeom>
          <a:noFill/>
          <a:ln w="25400">
            <a:solidFill>
              <a:srgbClr val="9FF3EC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594360" y="5440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removes noise and standardizes text; BERT’s self-attention then models word relationships in both directions before the classification head outputs a sentiment label.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Performance Will Be Measured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8308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1214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(TP+TN) / Total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2578608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share of reviews classified correctly.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7872" y="178308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7872" y="21214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(TP+FP)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578608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reviews predicted positive, how many truly are.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178308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36792" y="21214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36792" y="2578608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truly positive reviews, how many were found.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160020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25712" y="178308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25712" y="21214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2·(P·R)/(P+R)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25712" y="2578608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precision and recall in one score.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3822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CONFUSION MATRIX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426110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" y="54864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52628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28800" y="452628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7160" y="50886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7160" y="58658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51560" y="4828032"/>
            <a:ext cx="722376" cy="722376"/>
          </a:xfrm>
          <a:prstGeom prst="roundRect">
            <a:avLst>
              <a:gd name="adj" fmla="val 8861"/>
            </a:avLst>
          </a:prstGeom>
          <a:solidFill>
            <a:srgbClr val="1B3B2E">
              <a:alpha val="95000"/>
            </a:srgbClr>
          </a:solidFill>
          <a:ln w="13970">
            <a:solidFill>
              <a:srgbClr val="3ED5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4828032"/>
            <a:ext cx="7223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0" y="4828032"/>
            <a:ext cx="722376" cy="722376"/>
          </a:xfrm>
          <a:prstGeom prst="roundRect">
            <a:avLst>
              <a:gd name="adj" fmla="val 8861"/>
            </a:avLst>
          </a:prstGeom>
          <a:solidFill>
            <a:srgbClr val="3A2440">
              <a:alpha val="95000"/>
            </a:srgbClr>
          </a:solidFill>
          <a:ln w="13970">
            <a:solidFill>
              <a:srgbClr val="FF5C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4828032"/>
            <a:ext cx="7223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51560" y="5605272"/>
            <a:ext cx="722376" cy="722376"/>
          </a:xfrm>
          <a:prstGeom prst="roundRect">
            <a:avLst>
              <a:gd name="adj" fmla="val 8861"/>
            </a:avLst>
          </a:prstGeom>
          <a:solidFill>
            <a:srgbClr val="3A2440">
              <a:alpha val="95000"/>
            </a:srgbClr>
          </a:solidFill>
          <a:ln w="13970">
            <a:solidFill>
              <a:srgbClr val="FF5C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605272"/>
            <a:ext cx="7223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0" y="5605272"/>
            <a:ext cx="722376" cy="722376"/>
          </a:xfrm>
          <a:prstGeom prst="roundRect">
            <a:avLst>
              <a:gd name="adj" fmla="val 8861"/>
            </a:avLst>
          </a:prstGeom>
          <a:solidFill>
            <a:srgbClr val="1B3B2E">
              <a:alpha val="95000"/>
            </a:srgbClr>
          </a:solidFill>
          <a:ln w="13970">
            <a:solidFill>
              <a:srgbClr val="3ED59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0" y="5605272"/>
            <a:ext cx="7223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37960" y="3822192"/>
            <a:ext cx="5029200" cy="2331720"/>
          </a:xfrm>
          <a:prstGeom prst="roundRect">
            <a:avLst>
              <a:gd name="adj" fmla="val 5490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1228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12280" y="4370832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Reviews will be split into training and held-out test sets.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12280" y="4937760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fine-tuned BERT model is evaluated only on unseen test reviews.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12280" y="5504688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four metrics together give a complete, unbiased picture — accuracy alone can mislead on imbalanced data.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Sentiment,</a:t>
            </a:r>
            <a:endParaRPr lang="en-US" sz="3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Decisions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214884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how NLP and BERT can be combined to build an intelligent, context-aware system for classifying product review sentiment — helping businesses understand customer satisfaction, spot complaints early, and make faster, data-driven decisions.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3794760"/>
            <a:ext cx="6035040" cy="2331720"/>
          </a:xfrm>
          <a:prstGeom prst="roundRect">
            <a:avLst>
              <a:gd name="adj" fmla="val 6275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023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4352544"/>
            <a:ext cx="256032" cy="256032"/>
          </a:xfrm>
          <a:prstGeom prst="ellipse">
            <a:avLst/>
          </a:prstGeom>
          <a:solidFill>
            <a:srgbClr val="241F5E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4352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43525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multi-class / fine-grained sentiment (e.g. star-level)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78992" y="4736592"/>
            <a:ext cx="256032" cy="256032"/>
          </a:xfrm>
          <a:prstGeom prst="ellipse">
            <a:avLst/>
          </a:prstGeom>
          <a:solidFill>
            <a:srgbClr val="241F5E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4736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47365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multilingual product reviews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78992" y="5120640"/>
            <a:ext cx="256032" cy="256032"/>
          </a:xfrm>
          <a:prstGeom prst="ellipse">
            <a:avLst/>
          </a:prstGeom>
          <a:solidFill>
            <a:srgbClr val="241F5E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5120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specific aspects: price, delivery, quality, support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78992" y="5504688"/>
            <a:ext cx="256032" cy="256032"/>
          </a:xfrm>
          <a:prstGeom prst="ellipse">
            <a:avLst/>
          </a:prstGeom>
          <a:solidFill>
            <a:srgbClr val="241F5E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55046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5504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real-time API for live review streams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23760" y="1691640"/>
            <a:ext cx="4343400" cy="4434840"/>
          </a:xfrm>
          <a:prstGeom prst="roundRect">
            <a:avLst>
              <a:gd name="adj" fmla="val 3789"/>
            </a:avLst>
          </a:prstGeom>
          <a:solidFill>
            <a:srgbClr val="1C1848">
              <a:alpha val="90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05672" y="2240280"/>
            <a:ext cx="1188720" cy="118872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05672" y="22402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452360" y="36118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43800" y="3977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NLP models like BERT turn unstructured customer opinions into structured, actionable business intelligence.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452360" y="52120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2026-08-25T06:37:50Z</dcterms:created>
  <dcterms:modified xsi:type="dcterms:W3CDTF">2026-08-25T06:37:50Z</dcterms:modified>
</cp:coreProperties>
</file>