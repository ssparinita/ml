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3.png"/><Relationship Id="rId18" Type="http://schemas.openxmlformats.org/officeDocument/2006/relationships/image" Target="../media/image-8-14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309886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 Review Sentiment Analysis Using NLP and BERT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36144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B7C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Machine Learning Project · Academic Year 2026–27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5350" y="3894435"/>
            <a:ext cx="3190101" cy="1653580"/>
          </a:xfrm>
          <a:prstGeom prst="roundRect">
            <a:avLst>
              <a:gd name="adj" fmla="val 8230"/>
            </a:avLst>
          </a:prstGeom>
          <a:solidFill>
            <a:srgbClr val="1A1F3A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14357" y="4083447"/>
            <a:ext cx="281208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4579541"/>
            <a:ext cx="2812087" cy="66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T. Parinitha — 2520030562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Dharmika P — 2520030012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4083447"/>
            <a:ext cx="2917851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 the Esteemed Guidance of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4886623"/>
            <a:ext cx="291785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Jyothsna Datti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Assistant Professor, CSE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322"/>
            <a:ext cx="10868745" cy="51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spc="-6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Abstract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70" y="2116237"/>
            <a:ext cx="5890172" cy="333781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3239" y="1404541"/>
            <a:ext cx="3553232" cy="14988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36637" y="1581745"/>
            <a:ext cx="3122634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8236637" y="1970980"/>
            <a:ext cx="3122634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E-commerce platforms generate massive volumes of customer reviews daily. Manual analysis is time-consuming and inconsistent at scale.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3239" y="3035697"/>
            <a:ext cx="3553232" cy="14988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36637" y="3212902"/>
            <a:ext cx="3122634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Our Approach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8236637" y="3602137"/>
            <a:ext cx="3122634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sentiment classification using </a:t>
            </a:r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NLP and BERT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 the </a:t>
            </a:r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Amazon Product Reviews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dataset — binary classification: Positive or Negative.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3239" y="4666853"/>
            <a:ext cx="3553232" cy="14988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36637" y="4844058"/>
            <a:ext cx="3122634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Evaluation &amp; Impact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8236637" y="5233293"/>
            <a:ext cx="3122634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Metrics: Accuracy, Precision, Recall, F1-Score, Confusion Matrix. Helps businesses extract actionable insights and drive data-informed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33896"/>
            <a:ext cx="6296860" cy="54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300659"/>
            <a:ext cx="6296860" cy="1144587"/>
          </a:xfrm>
          <a:prstGeom prst="roundRect">
            <a:avLst>
              <a:gd name="adj" fmla="val 61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7902" y="1487091"/>
            <a:ext cx="592400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Reviews Matter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7902" y="1848247"/>
            <a:ext cx="592400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Online reviews influence purchasing decisions and brand reputation at massive scale.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593578"/>
            <a:ext cx="6296860" cy="1144587"/>
          </a:xfrm>
          <a:prstGeom prst="roundRect">
            <a:avLst>
              <a:gd name="adj" fmla="val 61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902" y="2780010"/>
            <a:ext cx="592400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Scale Challenge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7902" y="3141166"/>
            <a:ext cx="592400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Large review volumes make manual sentiment analysis entirely impractical for businesses.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3886498"/>
            <a:ext cx="6296860" cy="1144587"/>
          </a:xfrm>
          <a:prstGeom prst="roundRect">
            <a:avLst>
              <a:gd name="adj" fmla="val 61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902" y="4072930"/>
            <a:ext cx="592400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Contextual Complexity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7902" y="4434086"/>
            <a:ext cx="592400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Reviews contain sarcasm, varied expressions, and nuanced context that simple keyword matching cannot capture.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179417"/>
            <a:ext cx="6296860" cy="1144587"/>
          </a:xfrm>
          <a:prstGeom prst="roundRect">
            <a:avLst>
              <a:gd name="adj" fmla="val 614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7902" y="5365849"/>
            <a:ext cx="592400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BERT?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7902" y="5727005"/>
            <a:ext cx="592400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BERT understands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bidirectional context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semantic relationships — enabling accurate, scalable sentiment classification.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095"/>
            <a:ext cx="10868745" cy="416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spc="-5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Literature Survey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24545"/>
            <a:ext cx="11478330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5B7C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Evolution of Sentiment Analysis Techniques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59805"/>
            <a:ext cx="3694516" cy="3694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8562" y="3024088"/>
            <a:ext cx="5278008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Selection Rationale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58562" y="3319264"/>
            <a:ext cx="5278008" cy="279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prior technique represented an incremental improvement, yet none could fully model the </a:t>
            </a:r>
            <a:pPr algn="l" indent="0" marL="0">
              <a:lnSpc>
                <a:spcPct val="91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bidirectional context</a:t>
            </a:r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inherent in natural language.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49875"/>
            <a:ext cx="2651952" cy="9740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4811" y="5497016"/>
            <a:ext cx="2281478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Word Frequency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84811" y="5757366"/>
            <a:ext cx="2281478" cy="279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Counts occurrences — ignores context and word order entirely.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0340" y="5349875"/>
            <a:ext cx="2652051" cy="9740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23676" y="5497016"/>
            <a:ext cx="2281577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TF-IDF + Traditional ML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623676" y="5757366"/>
            <a:ext cx="2281577" cy="419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Statistical features improve over frequency — but understanding remains shallow.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9304" y="5349875"/>
            <a:ext cx="2651952" cy="9740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62640" y="5497016"/>
            <a:ext cx="2281478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Word Embeddings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362640" y="5757366"/>
            <a:ext cx="2281478" cy="279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Numerical word representation — context window remains limited.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8169" y="5349875"/>
            <a:ext cx="2652051" cy="9740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01505" y="5497016"/>
            <a:ext cx="2281577" cy="20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5" kern="0" dirty="0">
                <a:solidFill>
                  <a:srgbClr val="5B7C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BERT (Selected)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9101505" y="5757366"/>
            <a:ext cx="2281577" cy="279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bidirectional context — ideal for nuanced sentiment in product reviews.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546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spc="-5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096466"/>
            <a:ext cx="4903962" cy="5233988"/>
          </a:xfrm>
          <a:prstGeom prst="roundRect">
            <a:avLst>
              <a:gd name="adj" fmla="val 1943"/>
            </a:avLst>
          </a:prstGeom>
          <a:solidFill>
            <a:srgbClr val="1A1F3A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189037"/>
            <a:ext cx="4639452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483" y="1496616"/>
            <a:ext cx="4639452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Large volumes of product reviews are difficult to manually analyze. An automated system is needed to identify whether reviews express </a:t>
            </a:r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positive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</a:t>
            </a:r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negative</a:t>
            </a:r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sentiment — consistently and at scale.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8483" y="2039541"/>
            <a:ext cx="4639452" cy="379016"/>
          </a:xfrm>
          <a:prstGeom prst="roundRect">
            <a:avLst>
              <a:gd name="adj" fmla="val 14662"/>
            </a:avLst>
          </a:prstGeom>
          <a:solidFill>
            <a:srgbClr val="002A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738" y="2235994"/>
            <a:ext cx="165294" cy="132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8287" y="2155924"/>
            <a:ext cx="4686976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Binary Classification: Positive / Negative Sentiment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03943" y="1189037"/>
            <a:ext cx="583252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03943" y="1508224"/>
            <a:ext cx="264610" cy="171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21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03943" y="1720552"/>
            <a:ext cx="5832528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2" name="Text 9"/>
          <p:cNvSpPr/>
          <p:nvPr/>
        </p:nvSpPr>
        <p:spPr>
          <a:xfrm>
            <a:off x="5703943" y="1824732"/>
            <a:ext cx="583252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Preprocess Review Text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03943" y="2132310"/>
            <a:ext cx="5832528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Cleaning, normalization, and tokenization of raw review data.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03943" y="2470348"/>
            <a:ext cx="264610" cy="171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21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03943" y="2669480"/>
            <a:ext cx="5832528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6" name="Text 13"/>
          <p:cNvSpPr/>
          <p:nvPr/>
        </p:nvSpPr>
        <p:spPr>
          <a:xfrm>
            <a:off x="5703943" y="2786856"/>
            <a:ext cx="583252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Prepare BERT Input Format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03943" y="3094434"/>
            <a:ext cx="5832528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 text to meet BERT tokenization requirements.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03943" y="3432473"/>
            <a:ext cx="264610" cy="171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21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03943" y="3618409"/>
            <a:ext cx="5832528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0" name="Text 17"/>
          <p:cNvSpPr/>
          <p:nvPr/>
        </p:nvSpPr>
        <p:spPr>
          <a:xfrm>
            <a:off x="5703943" y="3748980"/>
            <a:ext cx="583252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03943" y="4056559"/>
            <a:ext cx="5832528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Partition dataset into training and testing sets.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03943" y="4394597"/>
            <a:ext cx="264610" cy="171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21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03943" y="4567337"/>
            <a:ext cx="5832528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4" name="Text 21"/>
          <p:cNvSpPr/>
          <p:nvPr/>
        </p:nvSpPr>
        <p:spPr>
          <a:xfrm>
            <a:off x="5703943" y="4711105"/>
            <a:ext cx="583252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Fine-Tune BERT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03943" y="5018683"/>
            <a:ext cx="5832528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the model on labeled Amazon review data.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03943" y="5356721"/>
            <a:ext cx="264610" cy="171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21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03943" y="5516265"/>
            <a:ext cx="5832528" cy="1905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28" name="Text 25"/>
          <p:cNvSpPr/>
          <p:nvPr/>
        </p:nvSpPr>
        <p:spPr>
          <a:xfrm>
            <a:off x="5703943" y="5673229"/>
            <a:ext cx="5832528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Classify &amp; Evaluate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03943" y="5980807"/>
            <a:ext cx="5832528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 sentiment and measure performance using standard metrics.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942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Dataset, Methodology &amp; Requirements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71713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50171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70660"/>
            <a:ext cx="346542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Amazon Product Reviews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529733"/>
            <a:ext cx="3465426" cy="104874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Positive: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"Excellent product and great quality."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Negative: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"Very poor quality and disappointing."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71713"/>
            <a:ext cx="2009923" cy="124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750171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Methodology Pipeline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170660"/>
            <a:ext cx="346542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Reviews → Preprocessing → Train/Test Split → BERT Tokenization → Fine-Tuning → Prediction → Evaluation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71713"/>
            <a:ext cx="2009923" cy="1242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750171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Software &amp; Libraries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170660"/>
            <a:ext cx="3465426" cy="111482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Python, PyTorch / TensorFlow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Hugging Face Transformers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Pandas, NumPy, Scikit-learn, Matplotlib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676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 &amp; Flowchart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07815"/>
            <a:ext cx="1147833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7C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Pipeline: From Raw Reviews to Performance Evaluation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735" y="1754485"/>
            <a:ext cx="9162225" cy="3951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1230" y="4951103"/>
            <a:ext cx="2078615" cy="270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 &amp; Eval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1230" y="4036490"/>
            <a:ext cx="2078615" cy="270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Tokenize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1230" y="3131115"/>
            <a:ext cx="2078615" cy="270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31230" y="2216502"/>
            <a:ext cx="2078615" cy="270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Ingest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5859165"/>
            <a:ext cx="10868745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stage transforms raw unstructured review text into a structured, evaluated sentiment prediction — enabling scalable, automated customer feedback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644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Results &amp; Evaluation Metrics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03363"/>
            <a:ext cx="3509180" cy="177224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316" y="1664990"/>
            <a:ext cx="215399" cy="215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6356" y="2221508"/>
            <a:ext cx="3099417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66356" y="2615505"/>
            <a:ext cx="3099417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Overall correctness of predictions across all review samples.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1208" y="1503363"/>
            <a:ext cx="3509180" cy="177224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8049" y="1664990"/>
            <a:ext cx="215399" cy="21540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46089" y="2221508"/>
            <a:ext cx="3099417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Precision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4546089" y="2615505"/>
            <a:ext cx="3099417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Accuracy of positive predictions — minimizing false positives.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20941" y="1503363"/>
            <a:ext cx="3509180" cy="177224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67782" y="1664990"/>
            <a:ext cx="215399" cy="21540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25822" y="2221508"/>
            <a:ext cx="3099417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Recall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8225822" y="2615505"/>
            <a:ext cx="3099417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Coverage of actual positive cases — minimizing false negatives.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3446165"/>
            <a:ext cx="5349047" cy="1772245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28249" y="3607792"/>
            <a:ext cx="215399" cy="21540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66356" y="4164310"/>
            <a:ext cx="493928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F1-Score</a:t>
            </a:r>
            <a:endParaRPr lang="en-US" sz="1750" dirty="0"/>
          </a:p>
        </p:txBody>
      </p:sp>
      <p:sp>
        <p:nvSpPr>
          <p:cNvPr id="18" name="Text 8"/>
          <p:cNvSpPr/>
          <p:nvPr/>
        </p:nvSpPr>
        <p:spPr>
          <a:xfrm>
            <a:off x="866356" y="4558308"/>
            <a:ext cx="4939283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Harmonic mean of Precision and Recall — balanced performance measure.</a:t>
            </a:r>
            <a:endParaRPr lang="en-US" sz="14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81074" y="3446165"/>
            <a:ext cx="5349047" cy="1772245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47849" y="3607792"/>
            <a:ext cx="215399" cy="21540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385956" y="4164310"/>
            <a:ext cx="493928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Confusion Matrix</a:t>
            </a:r>
            <a:endParaRPr lang="en-US" sz="1750" dirty="0"/>
          </a:p>
        </p:txBody>
      </p:sp>
      <p:sp>
        <p:nvSpPr>
          <p:cNvPr id="22" name="Text 10"/>
          <p:cNvSpPr/>
          <p:nvPr/>
        </p:nvSpPr>
        <p:spPr>
          <a:xfrm>
            <a:off x="6385956" y="4558308"/>
            <a:ext cx="4939283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Visualizes True Positives, True Negatives, False Positives, and False Negatives.</a:t>
            </a:r>
            <a:endParaRPr lang="en-US" sz="1400" dirty="0"/>
          </a:p>
        </p:txBody>
      </p:sp>
      <p:sp>
        <p:nvSpPr>
          <p:cNvPr id="23" name="Shape 11"/>
          <p:cNvSpPr/>
          <p:nvPr/>
        </p:nvSpPr>
        <p:spPr>
          <a:xfrm>
            <a:off x="661475" y="5410299"/>
            <a:ext cx="10868745" cy="868958"/>
          </a:xfrm>
          <a:prstGeom prst="roundRect">
            <a:avLst>
              <a:gd name="adj" fmla="val 8679"/>
            </a:avLst>
          </a:prstGeom>
          <a:solidFill>
            <a:srgbClr val="002A80"/>
          </a:solidFill>
          <a:ln/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0957" y="5627390"/>
            <a:ext cx="224427" cy="179487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244867" y="5625703"/>
            <a:ext cx="10105871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Numerical results will be reported after model training and testing. Placeholder values will be replaced with actual performance metrics upon completion.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476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Future Scope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45789" y="1263352"/>
            <a:ext cx="5469793" cy="5058073"/>
          </a:xfrm>
          <a:prstGeom prst="roundRect">
            <a:avLst>
              <a:gd name="adj" fmla="val 2287"/>
            </a:avLst>
          </a:prstGeom>
          <a:solidFill>
            <a:srgbClr val="1A1F3A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6420" y="1399877"/>
            <a:ext cx="514853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6420" y="1797447"/>
            <a:ext cx="5148531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NLP and BERT enable automated, scalable classification of customer review sentiment — helping businesses efficiently analyze large volumes of feedback and extract actionable insights from customer opinions.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6420" y="2706291"/>
            <a:ext cx="514853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6420" y="3103860"/>
            <a:ext cx="5148531" cy="915491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satisfaction analysis and monitoring</a:t>
            </a:r>
            <a:endParaRPr lang="en-US" sz="1250" dirty="0"/>
          </a:p>
          <a:p>
            <a:pPr algn="l" marL="254000" indent="-2540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Identifying common complaints and pain points</a:t>
            </a:r>
            <a:endParaRPr lang="en-US" sz="1250" dirty="0"/>
          </a:p>
          <a:p>
            <a:pPr algn="l" marL="254000" indent="-2540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product feedback tracking</a:t>
            </a:r>
            <a:endParaRPr lang="en-US" sz="1250" dirty="0"/>
          </a:p>
          <a:p>
            <a:pPr algn="l" marL="254000" indent="-2540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Supporting data-driven business decisions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8149" y="1399877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Scope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8374" y="1824484"/>
            <a:ext cx="240996" cy="2410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20225" y="1814513"/>
            <a:ext cx="471634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Multi-Class Sentiment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20225" y="2212082"/>
            <a:ext cx="4716345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Extend to Positive / Neutral / Negative classification for richer insight.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374" y="2881263"/>
            <a:ext cx="240996" cy="2410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20225" y="2871291"/>
            <a:ext cx="471634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Broader Datasets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820225" y="3268861"/>
            <a:ext cx="4716345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on larger, more diverse datasets spanning multiple product categories.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8374" y="3938042"/>
            <a:ext cx="240996" cy="2410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0225" y="3928070"/>
            <a:ext cx="471634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Analysis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820225" y="4325640"/>
            <a:ext cx="4716345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streaming review analysis and alerting pipelines.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8374" y="4801741"/>
            <a:ext cx="240996" cy="2410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20225" y="4791770"/>
            <a:ext cx="471634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Sentiment Dashboard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820225" y="5189339"/>
            <a:ext cx="4716345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an interactive e-commerce sentiment visualization dashboard.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539146" y="5851922"/>
            <a:ext cx="5607009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Turning Customer Feedback into Actionable Insight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298149" y="5729089"/>
            <a:ext cx="19050" cy="438745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2026-08-25T04:11:19Z</dcterms:created>
  <dcterms:modified xsi:type="dcterms:W3CDTF">2026-08-25T04:11:19Z</dcterms:modified>
</cp:coreProperties>
</file>